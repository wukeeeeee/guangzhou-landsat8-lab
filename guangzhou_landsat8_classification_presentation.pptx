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68580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202420"/>
                </a:solidFill>
                <a:latin typeface="Microsoft YaHei"/>
              </a:defRPr>
            </a:pPr>
            <a:r>
              <a:t>广州 Landsat 8 国土类型监督分类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43584"/>
            <a:ext cx="713232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5F6660"/>
                </a:solidFill>
                <a:latin typeface="Microsoft YaHei"/>
              </a:defRPr>
            </a:pPr>
            <a:r>
              <a:t>最大似然法 / SVM / 神经网络 结果对比与误差分析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457200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0"/>
              </a:spcAft>
              <a:defRPr sz="1500">
                <a:solidFill>
                  <a:srgbClr val="202420"/>
                </a:solidFill>
                <a:latin typeface="Microsoft YaHei"/>
              </a:defRPr>
            </a:pPr>
            <a:r>
              <a:t>研究区：广州市</a:t>
            </a:r>
          </a:p>
          <a:p>
            <a:pPr>
              <a:spcAft>
                <a:spcPts val="0"/>
              </a:spcAft>
              <a:defRPr sz="1500">
                <a:solidFill>
                  <a:srgbClr val="202420"/>
                </a:solidFill>
                <a:latin typeface="Microsoft YaHei"/>
              </a:defRPr>
            </a:pPr>
            <a:r>
              <a:t>数据源：Landsat 8 OLI/TIRS</a:t>
            </a:r>
          </a:p>
          <a:p>
            <a:pPr>
              <a:spcAft>
                <a:spcPts val="0"/>
              </a:spcAft>
              <a:defRPr sz="1500">
                <a:solidFill>
                  <a:srgbClr val="202420"/>
                </a:solidFill>
                <a:latin typeface="Microsoft YaHei"/>
              </a:defRPr>
            </a:pPr>
            <a:r>
              <a:t>目标：比较三种监督分类方法的精度、噪声和局部误分</a:t>
            </a:r>
          </a:p>
        </p:txBody>
      </p:sp>
      <p:pic>
        <p:nvPicPr>
          <p:cNvPr id="5" name="Picture 4" descr="three_resu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99808"/>
            <a:ext cx="5806440" cy="25303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研究内容与分类体系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本次展示重点不是证明结果完美，而是对三种方法进行客观对比。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365760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3695C"/>
                </a:solidFill>
                <a:latin typeface="Microsoft YaHei"/>
              </a:defRPr>
            </a:pPr>
            <a:r>
              <a:t>实验任务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017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完成影像预处理、ROI 样本选取</a:t>
            </a:r>
          </a:p>
          <a:p>
            <a:pPr>
              <a:spcAft>
                <a:spcPts val="3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运行最大似然法、SVM、神经网络</a:t>
            </a:r>
          </a:p>
          <a:p>
            <a:pPr>
              <a:spcAft>
                <a:spcPts val="3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比较 OA、Kappa、图斑噪声和边界表现</a:t>
            </a:r>
          </a:p>
          <a:p>
            <a:pPr>
              <a:spcAft>
                <a:spcPts val="3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列举典型误分区域并解释原因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25880"/>
            <a:ext cx="690372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600200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3695C"/>
                </a:solidFill>
                <a:latin typeface="Microsoft YaHei"/>
              </a:defRPr>
            </a:pPr>
            <a:r>
              <a:t>类别颜色说明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2148840"/>
            <a:ext cx="310896" cy="219456"/>
          </a:xfrm>
          <a:prstGeom prst="rect">
            <a:avLst/>
          </a:prstGeom>
          <a:solidFill>
            <a:srgbClr val="111111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13055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202420"/>
                </a:solidFill>
                <a:latin typeface="Microsoft YaHei"/>
              </a:defRPr>
            </a:pPr>
            <a:r>
              <a:t>未分类/背景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2148840"/>
            <a:ext cx="310896" cy="219456"/>
          </a:xfrm>
          <a:prstGeom prst="rect">
            <a:avLst/>
          </a:prstGeom>
          <a:solidFill>
            <a:srgbClr val="00D8D8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3055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202420"/>
                </a:solidFill>
                <a:latin typeface="Microsoft YaHei"/>
              </a:defRPr>
            </a:pPr>
            <a:r>
              <a:t>水体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788920"/>
            <a:ext cx="310896" cy="219456"/>
          </a:xfrm>
          <a:prstGeom prst="rect">
            <a:avLst/>
          </a:prstGeom>
          <a:solidFill>
            <a:srgbClr val="008000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77063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202420"/>
                </a:solidFill>
                <a:latin typeface="Microsoft YaHei"/>
              </a:defRPr>
            </a:pPr>
            <a:r>
              <a:t>植被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788920"/>
            <a:ext cx="310896" cy="219456"/>
          </a:xfrm>
          <a:prstGeom prst="rect">
            <a:avLst/>
          </a:prstGeom>
          <a:solidFill>
            <a:srgbClr val="FF1D10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77063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202420"/>
                </a:solidFill>
                <a:latin typeface="Microsoft YaHei"/>
              </a:defRPr>
            </a:pPr>
            <a:r>
              <a:t>耕地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3429000"/>
            <a:ext cx="310896" cy="219456"/>
          </a:xfrm>
          <a:prstGeom prst="rect">
            <a:avLst/>
          </a:prstGeom>
          <a:solidFill>
            <a:srgbClr val="F4EF00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41071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202420"/>
                </a:solidFill>
                <a:latin typeface="Microsoft YaHei"/>
              </a:defRPr>
            </a:pPr>
            <a:r>
              <a:t>城镇用地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3429000"/>
            <a:ext cx="310896" cy="219456"/>
          </a:xfrm>
          <a:prstGeom prst="rect">
            <a:avLst/>
          </a:prstGeom>
          <a:solidFill>
            <a:srgbClr val="FF24D6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410712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50" b="0">
                <a:solidFill>
                  <a:srgbClr val="202420"/>
                </a:solidFill>
                <a:latin typeface="Microsoft YaHei"/>
              </a:defRPr>
            </a:pPr>
            <a:r>
              <a:t>裸地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34840"/>
            <a:ext cx="5852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20" b="1">
                <a:solidFill>
                  <a:srgbClr val="CA5538"/>
                </a:solidFill>
                <a:latin typeface="Microsoft YaHei"/>
              </a:defRPr>
            </a:pPr>
            <a:r>
              <a:t>注意：黄色/红色/紫色在复杂城区、库岸和裸地附近容易混分。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从原始影像到分类精度评价的完整流程。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11430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13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51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3695C"/>
                </a:solidFill>
                <a:latin typeface="Microsoft YaHei"/>
              </a:defRPr>
            </a:pPr>
            <a:r>
              <a:t>影像打开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4792" y="1527048"/>
            <a:ext cx="23774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369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417320"/>
            <a:ext cx="11430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13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554480"/>
            <a:ext cx="1051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3695C"/>
                </a:solidFill>
                <a:latin typeface="Microsoft YaHei"/>
              </a:defRPr>
            </a:pPr>
            <a:r>
              <a:t>拼接/镶嵌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527048"/>
            <a:ext cx="23774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369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11430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13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1051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3695C"/>
                </a:solidFill>
                <a:latin typeface="Microsoft YaHei"/>
              </a:defRPr>
            </a:pPr>
            <a:r>
              <a:t>辐射定标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527048"/>
            <a:ext cx="23774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369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417320"/>
            <a:ext cx="11430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13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1051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3695C"/>
                </a:solidFill>
                <a:latin typeface="Microsoft YaHei"/>
              </a:defRPr>
            </a:pPr>
            <a:r>
              <a:t>大气校正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1527048"/>
            <a:ext cx="23774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369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11430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13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1051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3695C"/>
                </a:solidFill>
                <a:latin typeface="Microsoft YaHei"/>
              </a:defRPr>
            </a:pPr>
            <a:r>
              <a:t>融合裁剪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1527048"/>
            <a:ext cx="23774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369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417320"/>
            <a:ext cx="11430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13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1554480"/>
            <a:ext cx="1051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3695C"/>
                </a:solidFill>
                <a:latin typeface="Microsoft YaHei"/>
              </a:defRPr>
            </a:pPr>
            <a:r>
              <a:t>ROI 样本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392" y="1527048"/>
            <a:ext cx="23774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369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417320"/>
            <a:ext cx="11430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13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554480"/>
            <a:ext cx="1051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3695C"/>
                </a:solidFill>
                <a:latin typeface="Microsoft YaHei"/>
              </a:defRPr>
            </a:pPr>
            <a:r>
              <a:t>监督分类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8712" y="1527048"/>
            <a:ext cx="23774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3695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1417320"/>
            <a:ext cx="114300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13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1554480"/>
            <a:ext cx="1051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950" b="1">
                <a:solidFill>
                  <a:srgbClr val="13695C"/>
                </a:solidFill>
                <a:latin typeface="Microsoft YaHei"/>
              </a:defRPr>
            </a:pPr>
            <a:r>
              <a:t>精度评价</a:t>
            </a:r>
          </a:p>
        </p:txBody>
      </p:sp>
      <p:pic>
        <p:nvPicPr>
          <p:cNvPr id="27" name="Picture 26" descr="03-guangzhou-sub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24" y="2423160"/>
            <a:ext cx="4872751" cy="2880360"/>
          </a:xfrm>
          <a:prstGeom prst="rect">
            <a:avLst/>
          </a:prstGeom>
        </p:spPr>
      </p:pic>
      <p:pic>
        <p:nvPicPr>
          <p:cNvPr id="28" name="Picture 27" descr="04-roi-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626" y="2423160"/>
            <a:ext cx="4830427" cy="28803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3232" y="5376672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3695C"/>
                </a:solidFill>
                <a:latin typeface="Microsoft YaHei"/>
              </a:defRPr>
            </a:pPr>
            <a:r>
              <a:t>研究区裁剪结果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5376672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3695C"/>
                </a:solidFill>
                <a:latin typeface="Microsoft YaHei"/>
              </a:defRPr>
            </a:pPr>
            <a:r>
              <a:t>ROI 样本选取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三种监督分类方法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同一批样本下，不同分类器表现出不同的稳定性和局限。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342900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627632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CA5538"/>
                </a:solidFill>
                <a:latin typeface="Microsoft YaHei"/>
              </a:defRPr>
            </a:pPr>
            <a:r>
              <a:t>最大似然法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148840"/>
            <a:ext cx="292608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依赖类别统计分布</a:t>
            </a:r>
          </a:p>
          <a:p>
            <a:pPr>
              <a:spcAft>
                <a:spcPts val="40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优点：流程简单、可解释</a:t>
            </a:r>
          </a:p>
          <a:p>
            <a:pPr>
              <a:spcAft>
                <a:spcPts val="40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问题：图斑破碎，混分明显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0832" y="1417320"/>
            <a:ext cx="342900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27632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3695C"/>
                </a:solidFill>
                <a:latin typeface="Microsoft YaHei"/>
              </a:defRPr>
            </a:pPr>
            <a:r>
              <a:t>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864" y="2148840"/>
            <a:ext cx="292608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适合处理非线性边界</a:t>
            </a:r>
          </a:p>
          <a:p>
            <a:pPr>
              <a:spcAft>
                <a:spcPts val="40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优点：水体形态保持较好</a:t>
            </a:r>
          </a:p>
          <a:p>
            <a:pPr>
              <a:spcAft>
                <a:spcPts val="40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问题：岸线和阴影区仍混分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417320"/>
            <a:ext cx="342900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1627632"/>
            <a:ext cx="2926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6158A8"/>
                </a:solidFill>
                <a:latin typeface="Microsoft YaHei"/>
              </a:defRPr>
            </a:pPr>
            <a:r>
              <a:t>神经网络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48840"/>
            <a:ext cx="2926080" cy="2148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通过迭代拟合类别边界</a:t>
            </a:r>
          </a:p>
          <a:p>
            <a:pPr>
              <a:spcAft>
                <a:spcPts val="40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优点：验证样本 OA 最高</a:t>
            </a:r>
          </a:p>
          <a:p>
            <a:pPr>
              <a:spcAft>
                <a:spcPts val="40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问题：局部水体/谷地区域会误分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三种分类结果横向对比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图像顺序：最大似然法、SVM、神经网络。</a:t>
            </a:r>
          </a:p>
        </p:txBody>
      </p:sp>
      <p:pic>
        <p:nvPicPr>
          <p:cNvPr id="4" name="Picture 3" descr="three_resul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21015"/>
            <a:ext cx="7589520" cy="33074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58200" y="1353312"/>
            <a:ext cx="3063240" cy="3886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62763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3695C"/>
                </a:solidFill>
                <a:latin typeface="Microsoft YaHei"/>
              </a:defRPr>
            </a:pPr>
            <a:r>
              <a:t>直接观察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148840"/>
            <a:ext cx="2514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202420"/>
                </a:solidFill>
                <a:latin typeface="Microsoft YaHei"/>
              </a:defRPr>
            </a:pPr>
            <a:r>
              <a:t>MAX：最碎，椒盐噪声明显</a:t>
            </a:r>
          </a:p>
          <a:p>
            <a:pPr>
              <a:spcAft>
                <a:spcPts val="400"/>
              </a:spcAft>
              <a:defRPr sz="1250">
                <a:solidFill>
                  <a:srgbClr val="202420"/>
                </a:solidFill>
                <a:latin typeface="Microsoft YaHei"/>
              </a:defRPr>
            </a:pPr>
            <a:r>
              <a:t>SVM：整体较稳，水体较连续</a:t>
            </a:r>
          </a:p>
          <a:p>
            <a:pPr>
              <a:spcAft>
                <a:spcPts val="400"/>
              </a:spcAft>
              <a:defRPr sz="1250">
                <a:solidFill>
                  <a:srgbClr val="202420"/>
                </a:solidFill>
                <a:latin typeface="Microsoft YaHei"/>
              </a:defRPr>
            </a:pPr>
            <a:r>
              <a:t>NET：整体平滑，但局部并不一定更准</a:t>
            </a:r>
          </a:p>
          <a:p>
            <a:pPr>
              <a:spcAft>
                <a:spcPts val="400"/>
              </a:spcAft>
              <a:defRPr sz="1250">
                <a:solidFill>
                  <a:srgbClr val="202420"/>
                </a:solidFill>
                <a:latin typeface="Microsoft YaHei"/>
              </a:defRPr>
            </a:pPr>
            <a:r>
              <a:t>总体精度不能替代局部目视检查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分类结果噪声处理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Majority 3 × 3 后处理可以减少椒盐噪声，但也会平滑真实边界。</a:t>
            </a:r>
          </a:p>
        </p:txBody>
      </p:sp>
      <p:pic>
        <p:nvPicPr>
          <p:cNvPr id="4" name="Picture 3" descr="MAX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74674"/>
            <a:ext cx="3337560" cy="2348530"/>
          </a:xfrm>
          <a:prstGeom prst="rect">
            <a:avLst/>
          </a:prstGeom>
        </p:spPr>
      </p:pic>
      <p:pic>
        <p:nvPicPr>
          <p:cNvPr id="5" name="Picture 4" descr="SVM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949" y="1325880"/>
            <a:ext cx="3111340" cy="3246120"/>
          </a:xfrm>
          <a:prstGeom prst="rect">
            <a:avLst/>
          </a:prstGeom>
        </p:spPr>
      </p:pic>
      <p:pic>
        <p:nvPicPr>
          <p:cNvPr id="6" name="Picture 5" descr="NET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044" y="1325880"/>
            <a:ext cx="3090672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4709160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3695C"/>
                </a:solidFill>
                <a:latin typeface="Microsoft YaHei"/>
              </a:defRPr>
            </a:pPr>
            <a:r>
              <a:t>最大似然法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4709160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3695C"/>
                </a:solidFill>
                <a:latin typeface="Microsoft YaHei"/>
              </a:defRPr>
            </a:pPr>
            <a:r>
              <a:t>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4709160"/>
            <a:ext cx="1828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000" b="1">
                <a:solidFill>
                  <a:srgbClr val="13695C"/>
                </a:solidFill>
                <a:latin typeface="Microsoft YaHei"/>
              </a:defRPr>
            </a:pPr>
            <a:r>
              <a:t>神经网络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7899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1">
                <a:solidFill>
                  <a:srgbClr val="CA5538"/>
                </a:solidFill>
                <a:latin typeface="Microsoft YaHei"/>
              </a:defRPr>
            </a:pPr>
            <a:r>
              <a:t>评价：后处理适合做制图优化，不能替代重新选样本或重新分类。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精度评价结果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验证样本下神经网络最高，但局部图像仍需单独判断。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81328"/>
          <a:ext cx="73152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43000"/>
                <a:gridCol w="1143000"/>
                <a:gridCol w="3474720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marL="64008" marR="64008" anchor="t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OA</a:t>
                      </a:r>
                    </a:p>
                  </a:txBody>
                  <a:tcPr marL="64008" marR="64008" anchor="t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Kappa</a:t>
                      </a:r>
                    </a:p>
                  </a:txBody>
                  <a:tcPr marL="64008" marR="64008" anchor="t"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 marL="64008" marR="64008" anchor="t">
                    <a:solidFill>
                      <a:srgbClr val="E9EE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最大似然法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94.9920%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0.9348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精度最低，图斑最碎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SVM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96.5889%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0.9556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视觉上水体保持较好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神经网络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98.5637%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0.9814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验证样本下最高，但局部有误分</a:t>
                      </a:r>
                    </a:p>
                  </a:txBody>
                  <a:tcPr marL="64008" marR="6400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458200" y="1481328"/>
            <a:ext cx="297180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737360"/>
            <a:ext cx="21945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CA5538"/>
                </a:solidFill>
                <a:latin typeface="Microsoft YaHei"/>
              </a:defRPr>
            </a:pPr>
            <a:r>
              <a:t>关键提醒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176272"/>
            <a:ext cx="237744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OA 高不代表每个局部都正确</a:t>
            </a:r>
          </a:p>
          <a:p>
            <a:pPr>
              <a:spcAft>
                <a:spcPts val="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水体精度高可能受验证点位置影响</a:t>
            </a:r>
          </a:p>
          <a:p>
            <a:pPr>
              <a:spcAft>
                <a:spcPts val="0"/>
              </a:spcAft>
              <a:defRPr sz="1220">
                <a:solidFill>
                  <a:srgbClr val="202420"/>
                </a:solidFill>
                <a:latin typeface="Microsoft YaHei"/>
              </a:defRPr>
            </a:pPr>
            <a:r>
              <a:t>需要结合原始影像解释误差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1060704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13695C"/>
                </a:solidFill>
                <a:latin typeface="Microsoft YaHei"/>
              </a:defRPr>
            </a:pPr>
            <a:r>
              <a:t>本实验结论不能只按 OA 排名，还要看图斑噪声、边界和典型误分。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主要混分区域与原因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误分集中在光谱相近或混合像元严重的位置。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097280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00200"/>
          <a:ext cx="104241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657600"/>
                <a:gridCol w="4572000"/>
              </a:tblGrid>
              <a:tr h="8115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典型区域</a:t>
                      </a:r>
                    </a:p>
                  </a:txBody>
                  <a:tcPr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表现</a:t>
                      </a:r>
                    </a:p>
                  </a:txBody>
                  <a:tcPr>
                    <a:solidFill>
                      <a:srgbClr val="E9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主要原因</a:t>
                      </a:r>
                    </a:p>
                  </a:txBody>
                  <a:tcPr>
                    <a:solidFill>
                      <a:srgbClr val="E9EEE9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江岸城市混合区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水体边缘、城镇、耕地/裸地互相混分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岸线、桥梁、建筑、绿地和浅水混在 30 m 像元内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山地水库区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主水体与库岸、阴影、谷地开阔区混分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阴影、水深变化、浑浊水、裸地和道路光谱相近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城郊过渡带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耕地、植被、裸地边界不稳定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02420"/>
                          </a:solidFill>
                          <a:latin typeface="Microsoft YaHei"/>
                        </a:defRPr>
                      </a:pPr>
                      <a:r>
                        <a:t>季节、湿度、裸土和低密度建设用地相似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典型误分案例 1：江岸城市混合区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左上 MAX；左下 SVM；右上 NET；右下原始影像。</a:t>
            </a:r>
          </a:p>
        </p:txBody>
      </p:sp>
      <p:pic>
        <p:nvPicPr>
          <p:cNvPr id="4" name="Picture 3" descr="typical_misclassification_city_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59" y="1143000"/>
            <a:ext cx="4652401" cy="4892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29400" y="1325880"/>
            <a:ext cx="466344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1152" y="1783080"/>
            <a:ext cx="3977639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主体水体大致能识别，但岸线附近不稳定</a:t>
            </a:r>
          </a:p>
          <a:p>
            <a:pPr>
              <a:spcAft>
                <a:spcPts val="5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江边城镇、道路、绿地、裸地和浅水混在一起</a:t>
            </a:r>
          </a:p>
          <a:p>
            <a:pPr>
              <a:spcAft>
                <a:spcPts val="5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三种方法都存在局部误分，不宜只按总体精度判断</a:t>
            </a:r>
          </a:p>
          <a:p>
            <a:pPr>
              <a:spcAft>
                <a:spcPts val="5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这个案例说明：城市混合像元是广州分类难点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典型误分案例 2：山地水库区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这张图说明总体精度高的方法，局部也可能不可靠。</a:t>
            </a:r>
          </a:p>
        </p:txBody>
      </p:sp>
      <p:pic>
        <p:nvPicPr>
          <p:cNvPr id="4" name="Picture 3" descr="typical_misclassification_reservoir_mount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568" y="1143000"/>
            <a:ext cx="4644863" cy="4892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37960" y="1234440"/>
            <a:ext cx="4800600" cy="4663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691640"/>
            <a:ext cx="406908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02420"/>
                </a:solidFill>
                <a:latin typeface="Microsoft YaHei"/>
              </a:defRPr>
            </a:pPr>
            <a:r>
              <a:t>MAX：黄色/红色斑块碎，局部混分明显</a:t>
            </a:r>
          </a:p>
          <a:p>
            <a:pPr>
              <a:spcAft>
                <a:spcPts val="500"/>
              </a:spcAft>
              <a:defRPr sz="1300">
                <a:solidFill>
                  <a:srgbClr val="202420"/>
                </a:solidFill>
                <a:latin typeface="Microsoft YaHei"/>
              </a:defRPr>
            </a:pPr>
            <a:r>
              <a:t>SVM：主水体轮廓相对最好，但岸线仍混分</a:t>
            </a:r>
          </a:p>
          <a:p>
            <a:pPr>
              <a:spcAft>
                <a:spcPts val="500"/>
              </a:spcAft>
              <a:defRPr sz="1300">
                <a:solidFill>
                  <a:srgbClr val="202420"/>
                </a:solidFill>
                <a:latin typeface="Microsoft YaHei"/>
              </a:defRPr>
            </a:pPr>
            <a:r>
              <a:t>NET：图斑较平滑，但部分水库/谷地区域被判为耕地</a:t>
            </a:r>
          </a:p>
          <a:p>
            <a:pPr>
              <a:spcAft>
                <a:spcPts val="500"/>
              </a:spcAft>
              <a:defRPr sz="1300">
                <a:solidFill>
                  <a:srgbClr val="202420"/>
                </a:solidFill>
                <a:latin typeface="Microsoft YaHei"/>
              </a:defRPr>
            </a:pPr>
            <a:r>
              <a:t>可能原因：阴影、水深、浑浊度、库岸混合像元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总体评价：好就好，坏就坏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本次结果适合作为方法对比实验，不宜直接当作高精度土地覆盖图。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333756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71907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CA5538"/>
                </a:solidFill>
                <a:latin typeface="Microsoft YaHei"/>
              </a:defRPr>
            </a:pPr>
            <a:r>
              <a:t>最大似然法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12848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CA5538"/>
                </a:solidFill>
                <a:latin typeface="Microsoft YaHei"/>
              </a:defRPr>
            </a:pPr>
            <a:r>
              <a:t>较差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74320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80" b="0">
                <a:solidFill>
                  <a:srgbClr val="202420"/>
                </a:solidFill>
                <a:latin typeface="Microsoft YaHei"/>
              </a:defRPr>
            </a:pPr>
            <a:r>
              <a:t>图斑最碎，城镇/耕地/裸地混分明显。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333756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71907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13695C"/>
                </a:solidFill>
                <a:latin typeface="Microsoft YaHei"/>
              </a:defRPr>
            </a:pPr>
            <a:r>
              <a:t>SVM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212848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13695C"/>
                </a:solidFill>
                <a:latin typeface="Microsoft YaHei"/>
              </a:defRPr>
            </a:pPr>
            <a:r>
              <a:t>相对最稳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816352"/>
            <a:ext cx="274320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80" b="0">
                <a:solidFill>
                  <a:srgbClr val="202420"/>
                </a:solidFill>
                <a:latin typeface="Microsoft YaHei"/>
              </a:defRPr>
            </a:pPr>
            <a:r>
              <a:t>局部水体轮廓保持较好，但岸线和阴影仍有误分。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417320"/>
            <a:ext cx="333756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171907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6158A8"/>
                </a:solidFill>
                <a:latin typeface="Microsoft YaHei"/>
              </a:defRPr>
            </a:pPr>
            <a:r>
              <a:t>神经网络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212848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1">
                <a:solidFill>
                  <a:srgbClr val="CA5538"/>
                </a:solidFill>
                <a:latin typeface="Microsoft YaHei"/>
              </a:defRPr>
            </a:pPr>
            <a:r>
              <a:t>指标最好但局部翻车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816352"/>
            <a:ext cx="274320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80" b="0">
                <a:solidFill>
                  <a:srgbClr val="202420"/>
                </a:solidFill>
                <a:latin typeface="Microsoft YaHei"/>
              </a:defRPr>
            </a:pPr>
            <a:r>
              <a:t>OA 最高，但江岸和水库局部仍出现不合理分类。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1">
                <a:solidFill>
                  <a:srgbClr val="202420"/>
                </a:solidFill>
                <a:latin typeface="Microsoft YaHei"/>
              </a:defRPr>
            </a:pPr>
            <a:r>
              <a:t>一句话：流程完整，结果有参考价值；但样本代表性不足导致局部误分明显。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420"/>
                </a:solidFill>
                <a:latin typeface="Microsoft YaHei"/>
              </a:defRPr>
            </a:pPr>
            <a:r>
              <a:t>后续改进方向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8503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660"/>
                </a:solidFill>
                <a:latin typeface="Microsoft YaHei"/>
              </a:defRPr>
            </a:pPr>
            <a:r>
              <a:t>如果要把结果真正改好，核心不是后处理，而是样本和特征。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512064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2763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3695C"/>
                </a:solidFill>
                <a:latin typeface="Microsoft YaHei"/>
              </a:defRPr>
            </a:pPr>
            <a:r>
              <a:t>优先修改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29768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补充难点 ROI：浅水、浑浊水、阴影水体、库岸</a:t>
            </a:r>
          </a:p>
          <a:p>
            <a:pPr>
              <a:spcAft>
                <a:spcPts val="4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验证样本覆盖江岸、库岸、城郊过渡带</a:t>
            </a:r>
          </a:p>
          <a:p>
            <a:pPr>
              <a:spcAft>
                <a:spcPts val="4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加入 NDWI/MNDWI 等水体指数</a:t>
            </a:r>
          </a:p>
          <a:p>
            <a:pPr>
              <a:spcAft>
                <a:spcPts val="4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必要时合并光谱高度相近的类别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25880"/>
            <a:ext cx="512064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D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27632"/>
            <a:ext cx="25603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CA5538"/>
                </a:solidFill>
                <a:latin typeface="Microsoft YaHei"/>
              </a:defRPr>
            </a:pPr>
            <a:r>
              <a:t>本次报告立场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48840"/>
            <a:ext cx="429768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承认局部误分</a:t>
            </a:r>
          </a:p>
          <a:p>
            <a:pPr>
              <a:spcAft>
                <a:spcPts val="4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区分总体精度和局部视觉效果</a:t>
            </a:r>
          </a:p>
          <a:p>
            <a:pPr>
              <a:spcAft>
                <a:spcPts val="4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把结果作为方法对比，而不是最终制图成果</a:t>
            </a:r>
          </a:p>
          <a:p>
            <a:pPr>
              <a:spcAft>
                <a:spcPts val="400"/>
              </a:spcAft>
              <a:defRPr sz="1320">
                <a:solidFill>
                  <a:srgbClr val="202420"/>
                </a:solidFill>
                <a:latin typeface="Microsoft YaHei"/>
              </a:defRPr>
            </a:pPr>
            <a:r>
              <a:t>说明误差来源和改进路径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50" b="1">
                <a:solidFill>
                  <a:srgbClr val="13695C"/>
                </a:solidFill>
                <a:latin typeface="Microsoft YaHei"/>
              </a:defRPr>
            </a:pPr>
            <a:r>
              <a:t>结论：监督分类完成，但广州复杂地物下仍需更好的样本设计和水体特征增强。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660"/>
                </a:solidFill>
                <a:latin typeface="Microsoft YaHei"/>
              </a:defRPr>
            </a:pPr>
            <a:r>
              <a:t>广州 Landsat 8 监督分类展示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660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